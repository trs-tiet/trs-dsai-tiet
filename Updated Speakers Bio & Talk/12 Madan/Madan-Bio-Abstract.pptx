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Lst>
  <p:sldSz cx="10058400" cy="7772400"/>
  <p:notesSz cx="6858000" cy="9144000"/>
  <p:embeddedFontLst>
    <p:embeddedFont>
      <p:font typeface="Glacial Indifference Bold" panose="020B0604020202020204" charset="0"/>
      <p:regular r:id="rId4"/>
      <p:bold r:id="rId5"/>
    </p:embeddedFont>
    <p:embeddedFont>
      <p:font typeface="Open Sans Bold" panose="020B0604020202020204" charset="0"/>
      <p:regular r:id="rId6"/>
      <p:bold r:id="rId7"/>
    </p:embeddedFont>
    <p:embeddedFont>
      <p:font typeface="Calibri" panose="020F0502020204030204" pitchFamily="34" charset="0"/>
      <p:regular r:id="rId8"/>
      <p:bold r:id="rId9"/>
      <p:italic r:id="rId10"/>
      <p:boldItalic r:id="rId11"/>
    </p:embeddedFont>
    <p:embeddedFont>
      <p:font typeface="Open Sans" panose="020B0606030504020204" pitchFamily="34" charset="0"/>
      <p:regular r:id="rId12"/>
    </p:embeddedFont>
    <p:embeddedFont>
      <p:font typeface="Canva Sans Bold" panose="020B0604020202020204"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06" autoAdjust="0"/>
  </p:normalViewPr>
  <p:slideViewPr>
    <p:cSldViewPr>
      <p:cViewPr>
        <p:scale>
          <a:sx n="86" d="100"/>
          <a:sy n="86" d="100"/>
        </p:scale>
        <p:origin x="972"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presProps" Target="pres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784277" y="777240"/>
            <a:ext cx="1402632" cy="552016"/>
          </a:xfrm>
          <a:custGeom>
            <a:avLst/>
            <a:gdLst/>
            <a:ahLst/>
            <a:cxnLst/>
            <a:rect l="l" t="t" r="r" b="b"/>
            <a:pathLst>
              <a:path w="1402632" h="552016">
                <a:moveTo>
                  <a:pt x="0" y="0"/>
                </a:moveTo>
                <a:lnTo>
                  <a:pt x="1402632" y="0"/>
                </a:lnTo>
                <a:lnTo>
                  <a:pt x="1402632" y="552016"/>
                </a:lnTo>
                <a:lnTo>
                  <a:pt x="0" y="552016"/>
                </a:lnTo>
                <a:lnTo>
                  <a:pt x="0" y="0"/>
                </a:lnTo>
                <a:close/>
              </a:path>
            </a:pathLst>
          </a:custGeom>
          <a:blipFill>
            <a:blip r:embed="rId2"/>
            <a:stretch>
              <a:fillRect/>
            </a:stretch>
          </a:blipFill>
        </p:spPr>
        <p:txBody>
          <a:bodyPr/>
          <a:lstStyle/>
          <a:p>
            <a:endParaRPr lang="en-US"/>
          </a:p>
        </p:txBody>
      </p:sp>
      <p:grpSp>
        <p:nvGrpSpPr>
          <p:cNvPr id="3" name="Group 3"/>
          <p:cNvGrpSpPr/>
          <p:nvPr/>
        </p:nvGrpSpPr>
        <p:grpSpPr>
          <a:xfrm>
            <a:off x="122589" y="2113467"/>
            <a:ext cx="3122700" cy="31227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590" r="-590"/>
              </a:stretch>
            </a:blipFill>
          </p:spPr>
          <p:txBody>
            <a:bodyPr/>
            <a:lstStyle/>
            <a:p>
              <a:endParaRPr lang="en-US"/>
            </a:p>
          </p:txBody>
        </p:sp>
      </p:grpSp>
      <p:sp>
        <p:nvSpPr>
          <p:cNvPr id="5" name="TextBox 5"/>
          <p:cNvSpPr txBox="1"/>
          <p:nvPr/>
        </p:nvSpPr>
        <p:spPr>
          <a:xfrm>
            <a:off x="6912786" y="2902483"/>
            <a:ext cx="3145614" cy="307075"/>
          </a:xfrm>
          <a:prstGeom prst="rect">
            <a:avLst/>
          </a:prstGeom>
        </p:spPr>
        <p:txBody>
          <a:bodyPr lIns="0" tIns="0" rIns="0" bIns="0" rtlCol="0" anchor="t">
            <a:spAutoFit/>
          </a:bodyPr>
          <a:lstStyle/>
          <a:p>
            <a:pPr algn="ctr">
              <a:lnSpc>
                <a:spcPts val="2499"/>
              </a:lnSpc>
            </a:pPr>
            <a:r>
              <a:rPr lang="en-US" sz="1785" b="1">
                <a:solidFill>
                  <a:srgbClr val="FFFFFF"/>
                </a:solidFill>
                <a:latin typeface="Glacial Indifference Bold"/>
                <a:ea typeface="Glacial Indifference Bold"/>
                <a:cs typeface="Glacial Indifference Bold"/>
                <a:sym typeface="Glacial Indifference Bold"/>
              </a:rPr>
              <a:t>Dr. Madan Dabbeeru</a:t>
            </a:r>
          </a:p>
        </p:txBody>
      </p:sp>
      <p:sp>
        <p:nvSpPr>
          <p:cNvPr id="6" name="TextBox 6"/>
          <p:cNvSpPr txBox="1"/>
          <p:nvPr/>
        </p:nvSpPr>
        <p:spPr>
          <a:xfrm>
            <a:off x="3477178" y="2086719"/>
            <a:ext cx="6023265" cy="3231654"/>
          </a:xfrm>
          <a:prstGeom prst="rect">
            <a:avLst/>
          </a:prstGeom>
        </p:spPr>
        <p:txBody>
          <a:bodyPr lIns="0" tIns="0" rIns="0" bIns="0" rtlCol="0" anchor="t">
            <a:spAutoFit/>
          </a:bodyPr>
          <a:lstStyle/>
          <a:p>
            <a:pPr algn="l">
              <a:lnSpc>
                <a:spcPts val="1819"/>
              </a:lnSpc>
            </a:pPr>
            <a:endParaRPr dirty="0"/>
          </a:p>
          <a:p>
            <a:pPr>
              <a:lnSpc>
                <a:spcPts val="1819"/>
              </a:lnSpc>
            </a:pPr>
            <a:r>
              <a:rPr lang="en-US" sz="1299" b="1" dirty="0">
                <a:solidFill>
                  <a:srgbClr val="000000"/>
                </a:solidFill>
                <a:latin typeface="Open Sans Bold"/>
                <a:ea typeface="Open Sans Bold"/>
                <a:cs typeface="Open Sans Bold"/>
                <a:sym typeface="Open Sans Bold"/>
              </a:rPr>
              <a:t>Founder </a:t>
            </a:r>
            <a:r>
              <a:rPr lang="en-US" sz="1299" b="1" dirty="0" smtClean="0">
                <a:solidFill>
                  <a:srgbClr val="000000"/>
                </a:solidFill>
                <a:latin typeface="Open Sans Bold"/>
                <a:ea typeface="Open Sans Bold"/>
                <a:cs typeface="Open Sans Bold"/>
                <a:sym typeface="Open Sans Bold"/>
              </a:rPr>
              <a:t> eizen.ai</a:t>
            </a:r>
            <a:endParaRPr lang="en-US" sz="1299" b="1" dirty="0">
              <a:solidFill>
                <a:srgbClr val="000000"/>
              </a:solidFill>
              <a:latin typeface="Open Sans Bold"/>
              <a:ea typeface="Open Sans Bold"/>
              <a:cs typeface="Open Sans Bold"/>
              <a:sym typeface="Open Sans Bold"/>
            </a:endParaRPr>
          </a:p>
          <a:p>
            <a:pPr>
              <a:lnSpc>
                <a:spcPts val="1819"/>
              </a:lnSpc>
            </a:pPr>
            <a:r>
              <a:rPr lang="en-US" sz="1299" b="1" dirty="0" smtClean="0">
                <a:solidFill>
                  <a:srgbClr val="000000"/>
                </a:solidFill>
                <a:latin typeface="Open Sans Bold"/>
                <a:ea typeface="Open Sans Bold"/>
                <a:cs typeface="Open Sans Bold"/>
                <a:sym typeface="Open Sans Bold"/>
              </a:rPr>
              <a:t>USA, Dubai, Bangalore</a:t>
            </a:r>
          </a:p>
          <a:p>
            <a:pPr>
              <a:lnSpc>
                <a:spcPts val="1819"/>
              </a:lnSpc>
            </a:pPr>
            <a:r>
              <a:rPr lang="en-US" sz="1299" b="1" dirty="0" smtClean="0">
                <a:solidFill>
                  <a:srgbClr val="000000"/>
                </a:solidFill>
                <a:latin typeface="Open Sans Bold"/>
                <a:ea typeface="Open Sans Bold"/>
                <a:cs typeface="Open Sans Bold"/>
                <a:sym typeface="Open Sans Bold"/>
              </a:rPr>
              <a:t> </a:t>
            </a:r>
            <a:endParaRPr lang="en-US" sz="1299" b="1" dirty="0">
              <a:solidFill>
                <a:srgbClr val="000000"/>
              </a:solidFill>
              <a:latin typeface="Open Sans Bold"/>
              <a:ea typeface="Open Sans Bold"/>
              <a:cs typeface="Open Sans Bold"/>
              <a:sym typeface="Open Sans Bold"/>
            </a:endParaRPr>
          </a:p>
          <a:p>
            <a:pPr algn="just">
              <a:lnSpc>
                <a:spcPts val="1819"/>
              </a:lnSpc>
            </a:pPr>
            <a:r>
              <a:rPr lang="en-US" sz="1299" dirty="0" smtClean="0">
                <a:solidFill>
                  <a:srgbClr val="000000"/>
                </a:solidFill>
                <a:latin typeface="Open Sans"/>
                <a:ea typeface="Open Sans"/>
                <a:cs typeface="Open Sans"/>
                <a:sym typeface="Open Sans"/>
              </a:rPr>
              <a:t>With </a:t>
            </a:r>
            <a:r>
              <a:rPr lang="en-US" sz="1299" dirty="0">
                <a:solidFill>
                  <a:srgbClr val="000000"/>
                </a:solidFill>
                <a:latin typeface="Open Sans"/>
                <a:ea typeface="Open Sans"/>
                <a:cs typeface="Open Sans"/>
                <a:sym typeface="Open Sans"/>
              </a:rPr>
              <a:t>over 22 years of AI research and engineering, </a:t>
            </a:r>
            <a:r>
              <a:rPr lang="en-US" sz="1299" dirty="0" smtClean="0">
                <a:solidFill>
                  <a:srgbClr val="000000"/>
                </a:solidFill>
                <a:latin typeface="Open Sans"/>
                <a:ea typeface="Open Sans"/>
                <a:cs typeface="Open Sans"/>
                <a:sym typeface="Open Sans"/>
              </a:rPr>
              <a:t>Dr</a:t>
            </a:r>
            <a:r>
              <a:rPr lang="en-US" sz="1299" dirty="0" smtClean="0">
                <a:solidFill>
                  <a:srgbClr val="000000"/>
                </a:solidFill>
                <a:latin typeface="Open Sans"/>
                <a:ea typeface="Open Sans"/>
                <a:cs typeface="Open Sans"/>
                <a:sym typeface="Open Sans"/>
              </a:rPr>
              <a:t>. Madan</a:t>
            </a:r>
            <a:r>
              <a:rPr lang="en-US" sz="1299" dirty="0" smtClean="0">
                <a:solidFill>
                  <a:srgbClr val="000000"/>
                </a:solidFill>
                <a:latin typeface="Open Sans"/>
                <a:ea typeface="Open Sans"/>
                <a:cs typeface="Open Sans"/>
                <a:sym typeface="Open Sans"/>
              </a:rPr>
              <a:t> </a:t>
            </a:r>
            <a:r>
              <a:rPr lang="en-US" sz="1299" dirty="0">
                <a:solidFill>
                  <a:srgbClr val="000000"/>
                </a:solidFill>
                <a:latin typeface="Open Sans"/>
                <a:ea typeface="Open Sans"/>
                <a:cs typeface="Open Sans"/>
                <a:sym typeface="Open Sans"/>
              </a:rPr>
              <a:t>has built systems that operate at the intersection of science, scale, and real-world impact. </a:t>
            </a:r>
            <a:r>
              <a:rPr lang="en-US" sz="1299" dirty="0" smtClean="0">
                <a:solidFill>
                  <a:srgbClr val="000000"/>
                </a:solidFill>
                <a:latin typeface="Open Sans"/>
                <a:ea typeface="Open Sans"/>
                <a:cs typeface="Open Sans"/>
                <a:sym typeface="Open Sans"/>
              </a:rPr>
              <a:t>He </a:t>
            </a:r>
            <a:r>
              <a:rPr lang="en-US" sz="1299" dirty="0">
                <a:solidFill>
                  <a:srgbClr val="000000"/>
                </a:solidFill>
                <a:latin typeface="Open Sans"/>
                <a:ea typeface="Open Sans"/>
                <a:cs typeface="Open Sans"/>
                <a:sym typeface="Open Sans"/>
              </a:rPr>
              <a:t>has led AI initiatives at Rakuten India as Head of Research, and was a key architect at unicorn startup Phenom People — delivering AI across Defense, Healthcare, Banking, and </a:t>
            </a:r>
            <a:r>
              <a:rPr lang="en-US" sz="1299" dirty="0" smtClean="0">
                <a:solidFill>
                  <a:srgbClr val="000000"/>
                </a:solidFill>
                <a:latin typeface="Open Sans"/>
                <a:ea typeface="Open Sans"/>
                <a:cs typeface="Open Sans"/>
                <a:sym typeface="Open Sans"/>
              </a:rPr>
              <a:t>E-Commerce. His </a:t>
            </a:r>
            <a:r>
              <a:rPr lang="en-US" sz="1299" dirty="0">
                <a:solidFill>
                  <a:srgbClr val="000000"/>
                </a:solidFill>
                <a:latin typeface="Open Sans"/>
                <a:ea typeface="Open Sans"/>
                <a:cs typeface="Open Sans"/>
                <a:sym typeface="Open Sans"/>
              </a:rPr>
              <a:t>work includes Unmanned Vehicles for the US Navy and Air Force, AI for cancer research,  and perhaps most fascinatingly, building AI that generates AI. </a:t>
            </a:r>
            <a:r>
              <a:rPr lang="en-US" sz="1299" dirty="0" smtClean="0">
                <a:solidFill>
                  <a:srgbClr val="000000"/>
                </a:solidFill>
                <a:latin typeface="Open Sans"/>
                <a:ea typeface="Open Sans"/>
                <a:cs typeface="Open Sans"/>
                <a:sym typeface="Open Sans"/>
              </a:rPr>
              <a:t> He </a:t>
            </a:r>
            <a:r>
              <a:rPr lang="en-US" sz="1299" dirty="0">
                <a:solidFill>
                  <a:srgbClr val="000000"/>
                </a:solidFill>
                <a:latin typeface="Open Sans"/>
                <a:ea typeface="Open Sans"/>
                <a:cs typeface="Open Sans"/>
                <a:sym typeface="Open Sans"/>
              </a:rPr>
              <a:t>holds a Post-Doc &amp; PhD in Cognitive Robotics from the University of Maryland, IIT Kanpur, and BITS Pilani.</a:t>
            </a:r>
          </a:p>
          <a:p>
            <a:pPr algn="just">
              <a:lnSpc>
                <a:spcPts val="1819"/>
              </a:lnSpc>
              <a:spcBef>
                <a:spcPct val="0"/>
              </a:spcBef>
            </a:pPr>
            <a:endParaRPr lang="en-US" sz="1299" dirty="0">
              <a:solidFill>
                <a:srgbClr val="000000"/>
              </a:solidFill>
              <a:latin typeface="Open Sans"/>
              <a:ea typeface="Open Sans"/>
              <a:cs typeface="Open Sans"/>
              <a:sym typeface="Open Sans"/>
            </a:endParaRPr>
          </a:p>
        </p:txBody>
      </p:sp>
      <p:sp>
        <p:nvSpPr>
          <p:cNvPr id="7" name="Freeform 7"/>
          <p:cNvSpPr/>
          <p:nvPr/>
        </p:nvSpPr>
        <p:spPr>
          <a:xfrm>
            <a:off x="3407488" y="7093445"/>
            <a:ext cx="1121313" cy="355445"/>
          </a:xfrm>
          <a:custGeom>
            <a:avLst/>
            <a:gdLst/>
            <a:ahLst/>
            <a:cxnLst/>
            <a:rect l="l" t="t" r="r" b="b"/>
            <a:pathLst>
              <a:path w="1121313" h="355445">
                <a:moveTo>
                  <a:pt x="0" y="0"/>
                </a:moveTo>
                <a:lnTo>
                  <a:pt x="1121312" y="0"/>
                </a:lnTo>
                <a:lnTo>
                  <a:pt x="1121312" y="355446"/>
                </a:lnTo>
                <a:lnTo>
                  <a:pt x="0" y="355446"/>
                </a:lnTo>
                <a:lnTo>
                  <a:pt x="0" y="0"/>
                </a:lnTo>
                <a:close/>
              </a:path>
            </a:pathLst>
          </a:custGeom>
          <a:blipFill>
            <a:blip r:embed="rId4"/>
            <a:stretch>
              <a:fillRect r="-22224"/>
            </a:stretch>
          </a:blipFill>
        </p:spPr>
        <p:txBody>
          <a:bodyPr/>
          <a:lstStyle/>
          <a:p>
            <a:endParaRPr lang="en-US"/>
          </a:p>
        </p:txBody>
      </p:sp>
      <p:sp>
        <p:nvSpPr>
          <p:cNvPr id="8" name="Freeform 8"/>
          <p:cNvSpPr/>
          <p:nvPr/>
        </p:nvSpPr>
        <p:spPr>
          <a:xfrm>
            <a:off x="4827287" y="7133583"/>
            <a:ext cx="1048035" cy="275169"/>
          </a:xfrm>
          <a:custGeom>
            <a:avLst/>
            <a:gdLst/>
            <a:ahLst/>
            <a:cxnLst/>
            <a:rect l="l" t="t" r="r" b="b"/>
            <a:pathLst>
              <a:path w="1048035" h="275169">
                <a:moveTo>
                  <a:pt x="0" y="0"/>
                </a:moveTo>
                <a:lnTo>
                  <a:pt x="1048035" y="0"/>
                </a:lnTo>
                <a:lnTo>
                  <a:pt x="1048035" y="275170"/>
                </a:lnTo>
                <a:lnTo>
                  <a:pt x="0" y="275170"/>
                </a:lnTo>
                <a:lnTo>
                  <a:pt x="0" y="0"/>
                </a:lnTo>
                <a:close/>
              </a:path>
            </a:pathLst>
          </a:custGeom>
          <a:blipFill>
            <a:blip r:embed="rId5"/>
            <a:stretch>
              <a:fillRect/>
            </a:stretch>
          </a:blipFill>
        </p:spPr>
        <p:txBody>
          <a:bodyPr/>
          <a:lstStyle/>
          <a:p>
            <a:endParaRPr lang="en-US"/>
          </a:p>
        </p:txBody>
      </p:sp>
      <p:sp>
        <p:nvSpPr>
          <p:cNvPr id="9" name="Freeform 9"/>
          <p:cNvSpPr/>
          <p:nvPr/>
        </p:nvSpPr>
        <p:spPr>
          <a:xfrm>
            <a:off x="6173809" y="7110382"/>
            <a:ext cx="1706083" cy="338509"/>
          </a:xfrm>
          <a:custGeom>
            <a:avLst/>
            <a:gdLst/>
            <a:ahLst/>
            <a:cxnLst/>
            <a:rect l="l" t="t" r="r" b="b"/>
            <a:pathLst>
              <a:path w="1706083" h="338509">
                <a:moveTo>
                  <a:pt x="0" y="0"/>
                </a:moveTo>
                <a:lnTo>
                  <a:pt x="1706084" y="0"/>
                </a:lnTo>
                <a:lnTo>
                  <a:pt x="1706084" y="338509"/>
                </a:lnTo>
                <a:lnTo>
                  <a:pt x="0" y="338509"/>
                </a:lnTo>
                <a:lnTo>
                  <a:pt x="0" y="0"/>
                </a:lnTo>
                <a:close/>
              </a:path>
            </a:pathLst>
          </a:custGeom>
          <a:blipFill>
            <a:blip r:embed="rId6"/>
            <a:stretch>
              <a:fillRect/>
            </a:stretch>
          </a:blipFill>
        </p:spPr>
        <p:txBody>
          <a:bodyPr/>
          <a:lstStyle/>
          <a:p>
            <a:endParaRPr lang="en-US"/>
          </a:p>
        </p:txBody>
      </p:sp>
      <p:sp>
        <p:nvSpPr>
          <p:cNvPr id="10" name="Freeform 10"/>
          <p:cNvSpPr/>
          <p:nvPr/>
        </p:nvSpPr>
        <p:spPr>
          <a:xfrm>
            <a:off x="8175168" y="7150520"/>
            <a:ext cx="1007612" cy="298371"/>
          </a:xfrm>
          <a:custGeom>
            <a:avLst/>
            <a:gdLst/>
            <a:ahLst/>
            <a:cxnLst/>
            <a:rect l="l" t="t" r="r" b="b"/>
            <a:pathLst>
              <a:path w="1007612" h="298371">
                <a:moveTo>
                  <a:pt x="0" y="0"/>
                </a:moveTo>
                <a:lnTo>
                  <a:pt x="1007612" y="0"/>
                </a:lnTo>
                <a:lnTo>
                  <a:pt x="1007612" y="298371"/>
                </a:lnTo>
                <a:lnTo>
                  <a:pt x="0" y="298371"/>
                </a:lnTo>
                <a:lnTo>
                  <a:pt x="0" y="0"/>
                </a:lnTo>
                <a:close/>
              </a:path>
            </a:pathLst>
          </a:custGeom>
          <a:blipFill>
            <a:blip r:embed="rId7"/>
            <a:stretch>
              <a:fillRect/>
            </a:stretch>
          </a:blipFill>
        </p:spPr>
        <p:txBody>
          <a:bodyPr/>
          <a:lstStyle/>
          <a:p>
            <a:endParaRPr lang="en-US"/>
          </a:p>
        </p:txBody>
      </p:sp>
      <p:sp>
        <p:nvSpPr>
          <p:cNvPr id="11" name="TextBox 11"/>
          <p:cNvSpPr txBox="1"/>
          <p:nvPr/>
        </p:nvSpPr>
        <p:spPr>
          <a:xfrm>
            <a:off x="3477178" y="720090"/>
            <a:ext cx="2398144" cy="948978"/>
          </a:xfrm>
          <a:prstGeom prst="rect">
            <a:avLst/>
          </a:prstGeom>
        </p:spPr>
        <p:txBody>
          <a:bodyPr wrap="square" lIns="0" tIns="0" rIns="0" bIns="0" rtlCol="0" anchor="t">
            <a:spAutoFit/>
          </a:bodyPr>
          <a:lstStyle/>
          <a:p>
            <a:pPr>
              <a:lnSpc>
                <a:spcPts val="3655"/>
              </a:lnSpc>
            </a:pPr>
            <a:r>
              <a:rPr lang="en-US" sz="2611" b="1" dirty="0">
                <a:solidFill>
                  <a:srgbClr val="000000"/>
                </a:solidFill>
                <a:latin typeface="Canva Sans Bold"/>
                <a:ea typeface="Canva Sans Bold"/>
                <a:cs typeface="Canva Sans Bold"/>
                <a:sym typeface="Canva Sans Bold"/>
              </a:rPr>
              <a:t>Dr. </a:t>
            </a:r>
            <a:r>
              <a:rPr lang="en-US" sz="2611" b="1" dirty="0" smtClean="0">
                <a:solidFill>
                  <a:srgbClr val="000000"/>
                </a:solidFill>
                <a:latin typeface="Canva Sans Bold"/>
                <a:ea typeface="Canva Sans Bold"/>
                <a:cs typeface="Canva Sans Bold"/>
                <a:sym typeface="Canva Sans Bold"/>
              </a:rPr>
              <a:t>Madan </a:t>
            </a:r>
            <a:r>
              <a:rPr lang="en-US" sz="2611" b="1" dirty="0" err="1" smtClean="0">
                <a:solidFill>
                  <a:srgbClr val="000000"/>
                </a:solidFill>
                <a:latin typeface="Canva Sans Bold"/>
                <a:ea typeface="Canva Sans Bold"/>
                <a:cs typeface="Canva Sans Bold"/>
                <a:sym typeface="Canva Sans Bold"/>
              </a:rPr>
              <a:t>Dabbeeru</a:t>
            </a:r>
            <a:endParaRPr lang="en-US" sz="2611" b="1" dirty="0">
              <a:solidFill>
                <a:srgbClr val="000000"/>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49A3A-478B-B541-ED29-C111DE7093D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0469A7C-5FDB-9FF9-1A1B-0A718A906C72}"/>
              </a:ext>
            </a:extLst>
          </p:cNvPr>
          <p:cNvSpPr/>
          <p:nvPr/>
        </p:nvSpPr>
        <p:spPr>
          <a:xfrm>
            <a:off x="7784277" y="777240"/>
            <a:ext cx="1402632" cy="552016"/>
          </a:xfrm>
          <a:custGeom>
            <a:avLst/>
            <a:gdLst/>
            <a:ahLst/>
            <a:cxnLst/>
            <a:rect l="l" t="t" r="r" b="b"/>
            <a:pathLst>
              <a:path w="1402632" h="552016">
                <a:moveTo>
                  <a:pt x="0" y="0"/>
                </a:moveTo>
                <a:lnTo>
                  <a:pt x="1402632" y="0"/>
                </a:lnTo>
                <a:lnTo>
                  <a:pt x="1402632" y="552016"/>
                </a:lnTo>
                <a:lnTo>
                  <a:pt x="0" y="552016"/>
                </a:lnTo>
                <a:lnTo>
                  <a:pt x="0" y="0"/>
                </a:lnTo>
                <a:close/>
              </a:path>
            </a:pathLst>
          </a:custGeom>
          <a:blipFill>
            <a:blip r:embed="rId2"/>
            <a:stretch>
              <a:fillRect/>
            </a:stretch>
          </a:blipFill>
        </p:spPr>
        <p:txBody>
          <a:bodyPr/>
          <a:lstStyle/>
          <a:p>
            <a:endParaRPr lang="en-US"/>
          </a:p>
        </p:txBody>
      </p:sp>
      <p:sp>
        <p:nvSpPr>
          <p:cNvPr id="5" name="TextBox 5">
            <a:extLst>
              <a:ext uri="{FF2B5EF4-FFF2-40B4-BE49-F238E27FC236}">
                <a16:creationId xmlns:a16="http://schemas.microsoft.com/office/drawing/2014/main" id="{576BAF4D-94EE-4192-B21F-1F2145038531}"/>
              </a:ext>
            </a:extLst>
          </p:cNvPr>
          <p:cNvSpPr txBox="1"/>
          <p:nvPr/>
        </p:nvSpPr>
        <p:spPr>
          <a:xfrm>
            <a:off x="6912786" y="2902483"/>
            <a:ext cx="3145614" cy="307075"/>
          </a:xfrm>
          <a:prstGeom prst="rect">
            <a:avLst/>
          </a:prstGeom>
        </p:spPr>
        <p:txBody>
          <a:bodyPr lIns="0" tIns="0" rIns="0" bIns="0" rtlCol="0" anchor="t">
            <a:spAutoFit/>
          </a:bodyPr>
          <a:lstStyle/>
          <a:p>
            <a:pPr algn="ctr">
              <a:lnSpc>
                <a:spcPts val="2499"/>
              </a:lnSpc>
            </a:pPr>
            <a:r>
              <a:rPr lang="en-US" sz="1785" b="1">
                <a:solidFill>
                  <a:srgbClr val="FFFFFF"/>
                </a:solidFill>
                <a:latin typeface="Glacial Indifference Bold"/>
                <a:ea typeface="Glacial Indifference Bold"/>
                <a:cs typeface="Glacial Indifference Bold"/>
                <a:sym typeface="Glacial Indifference Bold"/>
              </a:rPr>
              <a:t>Dr. Madan Dabbeeru</a:t>
            </a:r>
          </a:p>
        </p:txBody>
      </p:sp>
      <p:sp>
        <p:nvSpPr>
          <p:cNvPr id="6" name="TextBox 6">
            <a:extLst>
              <a:ext uri="{FF2B5EF4-FFF2-40B4-BE49-F238E27FC236}">
                <a16:creationId xmlns:a16="http://schemas.microsoft.com/office/drawing/2014/main" id="{5612E1D5-BCD8-A8F4-7EAC-726C059C078A}"/>
              </a:ext>
            </a:extLst>
          </p:cNvPr>
          <p:cNvSpPr txBox="1"/>
          <p:nvPr/>
        </p:nvSpPr>
        <p:spPr>
          <a:xfrm>
            <a:off x="507578" y="1590299"/>
            <a:ext cx="9043243" cy="5155257"/>
          </a:xfrm>
          <a:prstGeom prst="rect">
            <a:avLst/>
          </a:prstGeom>
        </p:spPr>
        <p:txBody>
          <a:bodyPr wrap="square" lIns="0" tIns="0" rIns="0" bIns="0" rtlCol="0" anchor="t">
            <a:spAutoFit/>
          </a:bodyPr>
          <a:lstStyle/>
          <a:p>
            <a:r>
              <a:rPr lang="en-US" sz="1600" b="1" dirty="0"/>
              <a:t>Title: Evolving the Watchers: Verifier-Driven Perpetual Learning for Robot Observability</a:t>
            </a:r>
          </a:p>
          <a:p>
            <a:endParaRPr lang="en-US" sz="1600" b="1" dirty="0"/>
          </a:p>
          <a:p>
            <a:r>
              <a:rPr lang="en-US" sz="1600" b="1" dirty="0"/>
              <a:t>Abstract</a:t>
            </a:r>
            <a:endParaRPr lang="en-US" sz="1600" dirty="0"/>
          </a:p>
          <a:p>
            <a:endParaRPr lang="en-US" sz="1600" dirty="0"/>
          </a:p>
          <a:p>
            <a:pPr algn="just"/>
            <a:r>
              <a:rPr lang="en-US" sz="1600" dirty="0"/>
              <a:t>As robots move from controlled pilots to fleet-scale deployments in manufacturing and logistics, a new problem emerges: how do we reliably know whether a robot is performing as intended? Robot telemetry reports what the machine believes it did. It often misses slow degradation, subtle grasp failures, timing drift, and deviations from standard operating procedures. Observer models trained once and deployed statically decay as sites, robot models, and products </a:t>
            </a:r>
            <a:r>
              <a:rPr lang="en-US" sz="1600" dirty="0" smtClean="0"/>
              <a:t>change. This </a:t>
            </a:r>
            <a:r>
              <a:rPr lang="en-US" sz="1600" dirty="0"/>
              <a:t>talk presents how Eizen AI approaches robot observability as a continuous engineering discipline, which we call </a:t>
            </a:r>
            <a:r>
              <a:rPr lang="en-US" sz="1600" dirty="0" err="1"/>
              <a:t>RobOps</a:t>
            </a:r>
            <a:r>
              <a:rPr lang="en-US" sz="1600" dirty="0"/>
              <a:t>, built on a dual-vision approach that pairs the robot's own ego-view with an external </a:t>
            </a:r>
            <a:r>
              <a:rPr lang="en-US" sz="1600" dirty="0" err="1"/>
              <a:t>exo</a:t>
            </a:r>
            <a:r>
              <a:rPr lang="en-US" sz="1600" dirty="0"/>
              <a:t>-view of the work being done. We describe a perpetual learning loop in which observer models are not hand-tuned but evolved. Inside a simulated robot environment with controllable fault injection, evolutionary algorithms co-evolve two populations: increasingly challenging failure scenarios, and a diverse archive of observer models that learn to detect them. Fitness is not a single gameable reward. It is determined by a panel of independent verifiers: simulation ground truth, physical and kinematic consistency, cross-view agreement, formal checks of procedure compliance, and confidence calibration. Disagreement among verifiers on real-world data becomes the signal that drives the next cycle of </a:t>
            </a:r>
            <a:r>
              <a:rPr lang="en-US" sz="1600" smtClean="0"/>
              <a:t>learning. We </a:t>
            </a:r>
            <a:r>
              <a:rPr lang="en-US" sz="1600" dirty="0"/>
              <a:t>close with open research challenges, including correlated verifier blind spots, the sim-to-real gap in failure modelling, and the cost of open-ended search, along with opportunities for student research and collaboration.</a:t>
            </a:r>
          </a:p>
          <a:p>
            <a:pPr algn="just">
              <a:lnSpc>
                <a:spcPts val="1819"/>
              </a:lnSpc>
            </a:pPr>
            <a:endParaRPr lang="en-US" sz="1400" dirty="0">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404105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414</Words>
  <Application>Microsoft Office PowerPoint</Application>
  <PresentationFormat>Custom</PresentationFormat>
  <Paragraphs>13</Paragraphs>
  <Slides>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Glacial Indifference Bold</vt:lpstr>
      <vt:lpstr>Open Sans Bold</vt:lpstr>
      <vt:lpstr>Calibri</vt:lpstr>
      <vt:lpstr>Open Sans</vt:lpstr>
      <vt:lpstr>Canva Sans Bold</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personal_profile</dc:title>
  <cp:lastModifiedBy>Ashish Singla</cp:lastModifiedBy>
  <cp:revision>3</cp:revision>
  <dcterms:created xsi:type="dcterms:W3CDTF">2006-08-16T00:00:00Z</dcterms:created>
  <dcterms:modified xsi:type="dcterms:W3CDTF">2026-10-11T10:24:34Z</dcterms:modified>
  <dc:identifier>DAFrbH58HKA</dc:identifier>
</cp:coreProperties>
</file>